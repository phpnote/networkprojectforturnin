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A878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2788920"/>
            <a:ext cx="48764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D4FF"/>
                </a:solidFill>
                <a:latin typeface="Segoe UI"/>
              </a:defRPr>
            </a:pPr>
            <a:r>
              <a:t>CRTP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Chat &amp; Resource Transfer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E0E8"/>
                </a:solidFill>
                <a:latin typeface="Segoe UI"/>
              </a:defRPr>
            </a:pPr>
            <a:r>
              <a:t>Multi-Room Chat &amp; File Sharing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A8FA8"/>
                </a:solidFill>
                <a:latin typeface="Segoe UI"/>
              </a:defRPr>
            </a:pPr>
            <a:r>
              <a:t>Socket Programming Project  —  Computer Networks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7AB8"/>
                </a:solidFill>
                <a:latin typeface="Segoe UI"/>
              </a:defRPr>
            </a:pPr>
            <a:r>
              <a:t>CRTP/1.0   |   TCP   |   JSON Framing   |   Multi-Threaded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วัตถุประสงค์ &amp; คุณลักษณะ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8FA8"/>
                </a:solidFill>
                <a:latin typeface="Segoe UI"/>
              </a:defRPr>
            </a:pPr>
            <a:r>
              <a:t>Objectives &amp; Characteristics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22400"/>
            <a:ext cx="5303520" cy="4064000"/>
          </a:xfrm>
          <a:prstGeom prst="roundRect">
            <a:avLst/>
          </a:prstGeom>
          <a:solidFill>
            <a:srgbClr val="161E35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📌  วัตถุประสงค์ (Objectives)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พัฒนาระบบแชทแบบหลายห้อง (Multi-Room Chat)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รองรับการแชร์ไฟล์ระหว่างผู้ใช้ (File Sharing)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รองรับผู้ใช้หลายคนพร้อมกัน (Multi-Client)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สื่อสารแบบ Real-Time ผ่าน TCP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303520" cy="50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422400"/>
            <a:ext cx="5303520" cy="4064000"/>
          </a:xfrm>
          <a:prstGeom prst="roundRect">
            <a:avLst/>
          </a:prstGeom>
          <a:solidFill>
            <a:srgbClr val="161E35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⚡  คุณลักษณะ (Characteristics)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Real-Time Interactive Messaging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Multi-User &amp; Multi-Room Architecture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Client-Server Model over TCP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Persistent Bidirectional Connection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Base64 File Transfer in JSON Payload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ทำไมเลือก TCP?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8FA8"/>
                </a:solidFill>
                <a:latin typeface="Segoe UI"/>
              </a:defRPr>
            </a:pPr>
            <a:r>
              <a:t>Transport Layer Selection — TCP vs UDP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1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4481"/>
                <a:gridCol w="4723790"/>
                <a:gridCol w="4498848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A3D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TCP  ✅</a:t>
                      </a:r>
                    </a:p>
                  </a:txBody>
                  <a:tcPr anchor="ctr">
                    <a:solidFill>
                      <a:srgbClr val="0A3D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UDP  ❌</a:t>
                      </a:r>
                    </a:p>
                  </a:txBody>
                  <a:tcPr anchor="ctr">
                    <a:solidFill>
                      <a:srgbClr val="0A3D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Reliability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✅  รับประกันข้อมูลถึงปลายทาง ส่งซ้ำอัตโนมัติ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❌  ไม่รับประกัน อาจสูญหาย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In-Order Delivery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✅  ข้อความเรียงลำดับถูกต้องเสมอ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❌  อาจสลับลำดับกัน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Connection State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✅  Connection-oriented — รู้ว่า Client หลุด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❌  Connectionless — ไม่รู้สถานะ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Error Recovery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✅  Retransmission + Flow Control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❌  ต้องจัดการเองทั้งหมด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548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8A8FA8"/>
                </a:solidFill>
                <a:latin typeface="Segoe UI"/>
              </a:defRPr>
            </a:pPr>
            <a:r>
              <a:t>💬  แชท: ข้อความต้องถึงครบ ห้ามหาย ต้องเรียงลำดับถูกต้อง</a:t>
            </a:r>
          </a:p>
          <a:p>
            <a:pPr>
              <a:spcAft>
                <a:spcPts val="600"/>
              </a:spcAft>
              <a:defRPr sz="1600">
                <a:solidFill>
                  <a:srgbClr val="8A8FA8"/>
                </a:solidFill>
                <a:latin typeface="Segoe UI"/>
              </a:defRPr>
            </a:pPr>
            <a:r>
              <a:t>📁  ส่งไฟล์: ไฟล์ต้องครบทุก byte ไม่งั้นเปิดไม่ได้</a:t>
            </a:r>
          </a:p>
          <a:p>
            <a:pPr>
              <a:spcAft>
                <a:spcPts val="600"/>
              </a:spcAft>
              <a:defRPr sz="1600">
                <a:solidFill>
                  <a:srgbClr val="8A8FA8"/>
                </a:solidFill>
                <a:latin typeface="Segoe UI"/>
              </a:defRPr>
            </a:pPr>
            <a:r>
              <a:t>→  TCP เหมาะสมที่สุดสำหรับ Chat &amp; File Sharing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การออกแบบ Protocol — Message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8FA8"/>
                </a:solidFill>
                <a:latin typeface="Segoe UI"/>
              </a:defRPr>
            </a:pPr>
            <a:r>
              <a:t>Newline-Delimited JSON  •  ทุก Message ปิดท้ายด้วย \n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3474720"/>
          </a:xfrm>
          <a:prstGeom prst="roundRect">
            <a:avLst/>
          </a:prstGeom>
          <a:solidFill>
            <a:srgbClr val="0A0D1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📤  Request Format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{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  "command": "SEND_MSG",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  "headers": {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    "session_id": "a1b2c3d4",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    "timestamp": 1724000000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  },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  "payload": {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    "text": "Hello!"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  }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}\n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3474720"/>
          </a:xfrm>
          <a:prstGeom prst="roundRect">
            <a:avLst/>
          </a:prstGeom>
          <a:solidFill>
            <a:srgbClr val="0A0D14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📥  Response Format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{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  "status_code": 200,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  "status_phrase": "OK",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  "headers": {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    "timestamp": 1724000001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  },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  "payload": {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    "message": "Message sent"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  }</a:t>
            </a:r>
          </a:p>
          <a:p>
            <a:pPr>
              <a:spcBef>
                <a:spcPts val="100"/>
              </a:spcBef>
              <a:defRPr sz="1400">
                <a:solidFill>
                  <a:srgbClr val="E0E0E8"/>
                </a:solidFill>
                <a:latin typeface="Cascadia Code"/>
              </a:defRPr>
            </a:pPr>
            <a:r>
              <a:t>}\n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D63B"/>
                </a:solidFill>
                <a:latin typeface="Segoe UI"/>
              </a:defRPr>
            </a:pPr>
            <a:r>
              <a:t>⚠️  TCP ไม่มี Message Boundary → ใช้ \n เป็น Delimiter → ฝั่งรับใช้ Buffer + Split แยก Message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Status Codes &amp;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8FA8"/>
                </a:solidFill>
                <a:latin typeface="Segoe UI"/>
              </a:defRPr>
            </a:pPr>
            <a:r>
              <a:t>ออกแบบตามหลักการ HTTP — 2xx Success, 4xx Client Error, 5xx Server Error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61287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8060"/>
                <a:gridCol w="2787091"/>
                <a:gridCol w="1858060"/>
                <a:gridCol w="5109667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</a:t>
                      </a:r>
                    </a:p>
                  </a:txBody>
                  <a:tcPr anchor="ctr">
                    <a:solidFill>
                      <a:srgbClr val="0A3D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A3D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Success</a:t>
                      </a:r>
                    </a:p>
                  </a:txBody>
                  <a:tcPr anchor="ctr">
                    <a:solidFill>
                      <a:srgbClr val="0A3D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Error Cases</a:t>
                      </a:r>
                    </a:p>
                  </a:txBody>
                  <a:tcPr anchor="ctr">
                    <a:solidFill>
                      <a:srgbClr val="0A3D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AUTH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ลงทะเบียนผู้ใช้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200 OK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400 BAD_REQUEST  ·  409 CONFLICT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CREATE_ROOM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สร้างห้องแชทใหม่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201 CREATED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409 CONFLICT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JOIN_ROOM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เข้าห้องแชท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200 OK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404 NOT_FOUND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LEAVE_ROOM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ออกจากห้องแชท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200 OK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400 BAD_REQUEST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SEND_MSG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ส่งข้อความ Broadcast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200 OK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403 FORBIDDEN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SEND_FILE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อัพโหลดไฟล์ (Base64)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201 CREATED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403 FORBIDDEN  ·  413 TOO_LARGE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DOWNLOAD_FILE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ดาวน์โหลดไฟล์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200 OK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404 NOT_FOUND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LIST_ROOMS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แสดงรายชื่อห้อง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200 OK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401 UNAUTHORIZED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LIST_USERS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แสดงสมาชิกในห้อง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200 OK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403 FORBIDDEN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จุดเด่นของ CRTP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8FA8"/>
                </a:solidFill>
                <a:latin typeface="Segoe UI"/>
              </a:defRPr>
            </a:pPr>
            <a:r>
              <a:t>สิ่งที่ทำให้ CRTP ต่างจาก HTTP และ Protocol อื่น</a:t>
            </a:r>
          </a:p>
        </p:txBody>
      </p:sp>
      <p:sp>
        <p:nvSpPr>
          <p:cNvPr id="5" name="Oval 4"/>
          <p:cNvSpPr/>
          <p:nvPr/>
        </p:nvSpPr>
        <p:spPr>
          <a:xfrm>
            <a:off x="9144000" y="3200400"/>
            <a:ext cx="4572000" cy="45720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56616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422400"/>
            <a:ext cx="3566160" cy="3789680"/>
          </a:xfrm>
          <a:prstGeom prst="roundRect">
            <a:avLst/>
          </a:prstGeom>
          <a:solidFill>
            <a:srgbClr val="161E35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🔗  Persistent Bidirectional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Server push ข้อมูลได้ทันที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ไม่ต้องรอ Client request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(คล้าย WebSocket)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ต่างจาก HTTP ที่เป็น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stateless request-response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566160" cy="50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6240" y="1422400"/>
            <a:ext cx="3566160" cy="3789680"/>
          </a:xfrm>
          <a:prstGeom prst="roundRect">
            <a:avLst/>
          </a:prstGeom>
          <a:solidFill>
            <a:srgbClr val="161E35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🧵  Thread-safe Multi-Client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Server แยก Thread ต่อ Client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ใช้ threading.Lock()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ป้องกัน Race Condition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รองรับหลาย connection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พร้อมกันอย่างปลอดภัย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71600"/>
            <a:ext cx="3566160" cy="50800"/>
          </a:xfrm>
          <a:prstGeom prst="rect">
            <a:avLst/>
          </a:prstGeom>
          <a:solidFill>
            <a:srgbClr val="FFD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0" y="1422400"/>
            <a:ext cx="3566160" cy="3789680"/>
          </a:xfrm>
          <a:prstGeom prst="roundRect">
            <a:avLst/>
          </a:prstGeom>
          <a:solidFill>
            <a:srgbClr val="161E35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500" b="1">
                <a:solidFill>
                  <a:srgbClr val="FFD63B"/>
                </a:solidFill>
                <a:latin typeface="Segoe UI"/>
              </a:defRPr>
            </a:pPr>
            <a:r>
              <a:t>📦  Session + File Transfer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จัดการ Session ในตัว Protocol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ไม่ต้องพึ่ง Cookie/Token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ส่งไฟล์ผ่าน Base64 encoding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ใน JSON payload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TCP Stream Fragmentation — ปัญหาและวิธีแก้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8FA8"/>
                </a:solidFill>
                <a:latin typeface="Segoe UI"/>
              </a:defRPr>
            </a:pPr>
            <a:r>
              <a:t>ความท้าทายหลักของ TCP Application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486400" cy="50800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422400"/>
            <a:ext cx="5486400" cy="4338320"/>
          </a:xfrm>
          <a:prstGeom prst="roundRect">
            <a:avLst/>
          </a:prstGeom>
          <a:solidFill>
            <a:srgbClr val="161E35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500" b="1">
                <a:solidFill>
                  <a:srgbClr val="FF4D6A"/>
                </a:solidFill>
                <a:latin typeface="Segoe UI"/>
              </a:defRPr>
            </a:pPr>
            <a:r>
              <a:t>❌  ปัญหา: TCP ไม่มี Message Boundary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TCP เป็น stream-based — ข้อมูลไหลเหมือนน้ำ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ไม่มีจุดแบ่งระหว่าง message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ส่ง 2 ข้อความ อาจ recv() ได้: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กรณี 1: รวมกัน →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  '{"cmd":"AUTH"}\n{"cmd":"JOIN"}\n'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กรณี 2: แยก →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  '{"cmd":"AU'  ...แล้ว...  'TH"}\n'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00" cy="50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22400"/>
            <a:ext cx="5486400" cy="4338320"/>
          </a:xfrm>
          <a:prstGeom prst="roundRect">
            <a:avLst/>
          </a:prstGeom>
          <a:solidFill>
            <a:srgbClr val="161E35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✅  วิธีแก้: Buffer + Newline Delimiter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1. ทุก message ต่อท้ายด้วย \n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2. ฝั่งรับสะสม bytes ใน buffer string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3. while "\n" in buffer: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       split ออกมา → parse JSON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4. ส่วนที่เหลือเก็บใน buffer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→ Reconstruct ถูกต้อง 100%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   ไม่ว่า TCP จะ fragment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   หรือ merge อย่างไรก็ตาม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สถาปัตยกรรมระบบ (System Architecture)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8FA8"/>
                </a:solidFill>
                <a:latin typeface="Segoe UI"/>
              </a:defRPr>
            </a:pPr>
            <a:r>
              <a:t>Server: Multi-threaded  •  Client: Dual-thread (CLI + Receiver)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486400" cy="50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422400"/>
            <a:ext cx="5486400" cy="4338320"/>
          </a:xfrm>
          <a:prstGeom prst="roundRect">
            <a:avLst/>
          </a:prstGeom>
          <a:solidFill>
            <a:srgbClr val="161E35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500" b="1">
                <a:solidFill>
                  <a:srgbClr val="00E676"/>
                </a:solidFill>
                <a:latin typeface="Segoe UI"/>
              </a:defRPr>
            </a:pPr>
            <a:r>
              <a:t>🖥️  Server Architecture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accept() loop → spawn Thread ต่อ Client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ServerState (Shared Data):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  • sessions{}  — ข้อมูล session ทั้งหมด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  • users{}     — mapping ชื่อ → session_id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  • rooms{}     — สมาชิกในแต่ละห้อง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threading.Lock():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  ป้องกัน Race Condition เมื่อหลาย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  Thread เข้าถึงข้อมูลพร้อมกัน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00" cy="50800"/>
          </a:xfrm>
          <a:prstGeom prst="rect">
            <a:avLst/>
          </a:prstGeom>
          <a:solidFill>
            <a:srgbClr val="FFD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22400"/>
            <a:ext cx="5486400" cy="4338320"/>
          </a:xfrm>
          <a:prstGeom prst="roundRect">
            <a:avLst/>
          </a:prstGeom>
          <a:solidFill>
            <a:srgbClr val="161E35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500" b="1">
                <a:solidFill>
                  <a:srgbClr val="FFD63B"/>
                </a:solidFill>
                <a:latin typeface="Segoe UI"/>
              </a:defRPr>
            </a:pPr>
            <a:r>
              <a:t>💻  Client Architecture (2 Threads)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Main Thread: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  • CLI input() loop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  • แปลงคำสั่ง → CRTPMessage → sendall()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Receiver Thread (daemon):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  • recv() loop ตลอดเวลา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  • แสดง broadcast แชท real-time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  • แสดง SYSTEM notifications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ทำไมแยก? ถ้าใช้ Thread เดียว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ขณะรอ input จะไม่เห็นแชทจากคนอื่น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Wireshark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8FA8"/>
                </a:solidFill>
                <a:latin typeface="Segoe UI"/>
              </a:defRPr>
            </a:pPr>
            <a:r>
              <a:t>1 ข้อความแชท  =  6-8 TCP Packets  —  ทำไม?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61287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772"/>
                <a:gridCol w="2322576"/>
                <a:gridCol w="5109667"/>
                <a:gridCol w="3483864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A3D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Direction</a:t>
                      </a:r>
                    </a:p>
                  </a:txBody>
                  <a:tcPr anchor="ctr">
                    <a:solidFill>
                      <a:srgbClr val="0A3D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Content</a:t>
                      </a:r>
                    </a:p>
                  </a:txBody>
                  <a:tcPr anchor="ctr">
                    <a:solidFill>
                      <a:srgbClr val="0A3D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0A3D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Client → Server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SEND_MSG Request  [PSH, ACK]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📤  Application Data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Server → Client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TCP ACK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🔄  TCP Control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Server → Client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Broadcast CHAT  [PSH, ACK]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📩  Application Data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Server → Bob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Broadcast CHAT  [PSH, ACK]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📩  Application Data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Client → Server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TCP ACK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🔄  TCP Control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Server → Client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Response 200 OK  [PSH, ACK]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📥  Application Data</a:t>
                      </a:r>
                    </a:p>
                  </a:txBody>
                  <a:tcPr anchor="ctr">
                    <a:solidFill>
                      <a:srgbClr val="0E15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7-8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Various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TCP ACK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0E0E8"/>
                          </a:solidFill>
                          <a:latin typeface="Segoe UI"/>
                        </a:defRPr>
                      </a:pPr>
                      <a:r>
                        <a:t>🔄  TCP Control</a:t>
                      </a:r>
                    </a:p>
                  </a:txBody>
                  <a:tcPr anchor="ctr">
                    <a:solidFill>
                      <a:srgbClr val="121C3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8A8FA8"/>
                </a:solidFill>
                <a:latin typeface="Segoe UI"/>
              </a:defRPr>
            </a:pPr>
            <a:r>
              <a:t>📊  App Data จริง: 3-4 packets   •   TCP ACK (Reliability): 4 packets</a:t>
            </a:r>
          </a:p>
          <a:p>
            <a:pPr>
              <a:spcAft>
                <a:spcPts val="600"/>
              </a:spcAft>
              <a:defRPr sz="1400">
                <a:solidFill>
                  <a:srgbClr val="8A8FA8"/>
                </a:solidFill>
                <a:latin typeface="Segoe UI"/>
              </a:defRPr>
            </a:pPr>
            <a:r>
              <a:t>→  TCP ต้อง ACK ทุกครั้งเพื่อรับประกัน Reliability — จึงเห็นหลาย packets</a:t>
            </a:r>
          </a:p>
          <a:p>
            <a:pPr>
              <a:spcAft>
                <a:spcPts val="600"/>
              </a:spcAft>
              <a:defRPr sz="1400">
                <a:solidFill>
                  <a:srgbClr val="8A8FA8"/>
                </a:solidFill>
                <a:latin typeface="Segoe UI"/>
              </a:defRPr>
            </a:pPr>
            <a:r>
              <a:t>→  JSON format: Wireshark อ่าน payload ได้ชัดเจน (ข้อดีของ Human-Readable Protocol)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7724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Demo — การทดสอบโปรแกรม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A8FA8"/>
                </a:solidFill>
                <a:latin typeface="Segoe UI"/>
              </a:defRPr>
            </a:pPr>
            <a:r>
              <a:t>เปิด 3 Terminal: 1 Server + 2 Clients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394960" cy="50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422400"/>
            <a:ext cx="5394960" cy="2052320"/>
          </a:xfrm>
          <a:prstGeom prst="roundRect">
            <a:avLst/>
          </a:prstGeom>
          <a:solidFill>
            <a:srgbClr val="161E35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✅  Demo 1: Success Flow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Server start → 2 Clients connect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/auth Alice, /auth Bob → 200 OK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/join General → Chat messages → Broadcast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371600"/>
            <a:ext cx="5577840" cy="50800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1422400"/>
            <a:ext cx="5577840" cy="2052320"/>
          </a:xfrm>
          <a:prstGeom prst="roundRect">
            <a:avLst/>
          </a:prstGeom>
          <a:solidFill>
            <a:srgbClr val="161E35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600" b="1">
                <a:solidFill>
                  <a:srgbClr val="FF4D6A"/>
                </a:solidFill>
                <a:latin typeface="Segoe UI"/>
              </a:defRPr>
            </a:pPr>
            <a:r>
              <a:t>❌  Demo 2: Error Handling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409 CONFLICT — ชื่อผู้ใช้ซ้ำ / ห้องซ้ำ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404 NOT_FOUND — ห้องไม่มีอยู่จริง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401 UNAUTHORIZED — ยังไม่ได้ login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403 FORBIDDEN — ยังไม่เข้าห้อง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840480"/>
            <a:ext cx="5394960" cy="50800"/>
          </a:xfrm>
          <a:prstGeom prst="rect">
            <a:avLst/>
          </a:prstGeom>
          <a:solidFill>
            <a:srgbClr val="FFD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3891280"/>
            <a:ext cx="5394960" cy="2052320"/>
          </a:xfrm>
          <a:prstGeom prst="roundRect">
            <a:avLst/>
          </a:prstGeom>
          <a:solidFill>
            <a:srgbClr val="161E35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600" b="1">
                <a:solidFill>
                  <a:srgbClr val="FFD63B"/>
                </a:solidFill>
                <a:latin typeface="Segoe UI"/>
              </a:defRPr>
            </a:pPr>
            <a:r>
              <a:t>📁  Demo 3: File Sharing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/file test.txt → 201 CREATED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Broadcast alert → /download → 200 OK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ไฟล์ถูกบันทึกลง uploads/ สำเร็จ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840480"/>
            <a:ext cx="55778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3891280"/>
            <a:ext cx="5577840" cy="2052320"/>
          </a:xfrm>
          <a:prstGeom prst="roundRect">
            <a:avLst/>
          </a:prstGeom>
          <a:solidFill>
            <a:srgbClr val="161E35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🔌  Demo 4: Disconnect Handling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Client Ctrl+C → Server cleanup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Broadcast: 'User left the room'</a:t>
            </a:r>
          </a:p>
          <a:p>
            <a:pPr>
              <a:spcBef>
                <a:spcPts val="300"/>
              </a:spcBef>
              <a:defRPr sz="1300">
                <a:solidFill>
                  <a:srgbClr val="E0E0E8"/>
                </a:solidFill>
                <a:latin typeface="Segoe UI"/>
              </a:defRPr>
            </a:pPr>
            <a:r>
              <a:t>Session ถูกลบอัตโนมัติ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914400"/>
            <a:ext cx="4572000" cy="4572000"/>
          </a:xfrm>
          <a:prstGeom prst="ellipse">
            <a:avLst/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2743200"/>
            <a:ext cx="5486400" cy="5486400"/>
          </a:xfrm>
          <a:prstGeom prst="ellipse">
            <a:avLst/>
          </a:prstGeom>
          <a:solidFill>
            <a:srgbClr val="A878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3200400"/>
            <a:ext cx="39620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ขอบคุณครับ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FF"/>
                </a:solidFill>
                <a:latin typeface="Segoe UI"/>
              </a:defRPr>
            </a:pPr>
            <a:r>
              <a:t>CRTP: Chat &amp; Resource Transfer Protocol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8FA8"/>
                </a:solidFill>
                <a:latin typeface="Segoe UI"/>
              </a:defRPr>
            </a:pPr>
            <a:r>
              <a:t>Full Version — Multi-Room Chat &amp; File Sharing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D63B"/>
                </a:solidFill>
                <a:latin typeface="Segoe U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